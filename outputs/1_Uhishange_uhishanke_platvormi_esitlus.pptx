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2222" autoAdjust="0"/>
  </p:normalViewPr>
  <p:slideViewPr>
    <p:cSldViewPr snapToGrid="0">
      <p:cViewPr varScale="1">
        <p:scale>
          <a:sx n="51" d="100"/>
          <a:sy n="51" d="100"/>
        </p:scale>
        <p:origin x="187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/>
              <a:t>Täna tellivad </a:t>
            </a:r>
            <a:r>
              <a:rPr lang="et-EE" dirty="0" err="1"/>
              <a:t>Kü-d</a:t>
            </a:r>
            <a:r>
              <a:rPr lang="et-EE" dirty="0"/>
              <a:t> tööd sisse üksi</a:t>
            </a:r>
          </a:p>
          <a:p>
            <a:r>
              <a:rPr lang="et-EE" dirty="0"/>
              <a:t>Palju väikesi ebamugavaid korduvaid töid</a:t>
            </a:r>
          </a:p>
          <a:p>
            <a:r>
              <a:rPr lang="et-EE" dirty="0"/>
              <a:t>Näeme, et mastaabiefekt on kasutamata, </a:t>
            </a:r>
          </a:p>
          <a:p>
            <a:r>
              <a:rPr lang="et-EE" dirty="0"/>
              <a:t>Me saame naabruskonna tööd koondada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/>
              <a:t>Meie </a:t>
            </a:r>
            <a:r>
              <a:rPr lang="et-EE" dirty="0" err="1"/>
              <a:t>persoona</a:t>
            </a:r>
            <a:r>
              <a:rPr lang="et-EE" dirty="0"/>
              <a:t> Kaarel </a:t>
            </a:r>
            <a:r>
              <a:rPr lang="et-EE" dirty="0" err="1"/>
              <a:t>tegelt</a:t>
            </a:r>
            <a:r>
              <a:rPr lang="et-EE" dirty="0"/>
              <a:t> päris inimene</a:t>
            </a:r>
          </a:p>
          <a:p>
            <a:r>
              <a:rPr lang="et-EE" dirty="0"/>
              <a:t>Tellis muruniitmise, </a:t>
            </a:r>
          </a:p>
          <a:p>
            <a:r>
              <a:rPr lang="et-EE" dirty="0"/>
              <a:t>Midagi läks valesti </a:t>
            </a:r>
          </a:p>
          <a:p>
            <a:r>
              <a:rPr lang="et-EE" dirty="0"/>
              <a:t>Pärast vihkas teda pool maja</a:t>
            </a:r>
          </a:p>
          <a:p>
            <a:r>
              <a:rPr lang="et-EE" dirty="0"/>
              <a:t>See oli päris juhtum</a:t>
            </a:r>
          </a:p>
          <a:p>
            <a:endParaRPr lang="et-E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t-EE" dirty="0"/>
              <a:t>Valideerisime 5 juhatuse liikme peal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t-EE" dirty="0"/>
              <a:t>Tööd on väikesed,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t-EE" dirty="0"/>
              <a:t>Juhan tuleb oma murutraktoriga Laagrisse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t-EE" dirty="0"/>
              <a:t>Niidab tund aega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t-EE" dirty="0"/>
              <a:t>Siis Lasnamäele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t-EE" dirty="0"/>
              <a:t>See teebki kalliks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t-EE" dirty="0"/>
              <a:t>Juh. Liikme tööst samad asjad, see on tasuta, sul pole aega seda teha korralikult, upud pakkumistesse jne.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/>
              <a:t>Juh. Liige Kaarel tuleb meie platvormile</a:t>
            </a:r>
          </a:p>
          <a:p>
            <a:r>
              <a:rPr lang="et-EE" dirty="0"/>
              <a:t>Paneb oma muruniitmise üles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/>
              <a:t>Kutsub naaberühistud hankega liituma. </a:t>
            </a:r>
          </a:p>
          <a:p>
            <a:r>
              <a:rPr lang="et-EE" dirty="0"/>
              <a:t>Nüüd on neid ühe asemel viis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/>
              <a:t>Juhan näeb seda, ohoo,</a:t>
            </a:r>
          </a:p>
          <a:p>
            <a:r>
              <a:rPr lang="et-EE" dirty="0"/>
              <a:t>Mul läheb murutraktoriga seal terve päev ära</a:t>
            </a:r>
          </a:p>
          <a:p>
            <a:r>
              <a:rPr lang="et-EE" dirty="0"/>
              <a:t>Ei pea hajutatud objektide vahel sõitma</a:t>
            </a:r>
          </a:p>
          <a:p>
            <a:r>
              <a:rPr lang="et-EE" dirty="0"/>
              <a:t>Aeg, transport</a:t>
            </a:r>
          </a:p>
          <a:p>
            <a:endParaRPr lang="et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/>
              <a:t>Tehnoloogia teeb juhatuse liikmele valiku visuaalselt lihtsaks</a:t>
            </a:r>
          </a:p>
          <a:p>
            <a:r>
              <a:rPr lang="et-EE" dirty="0"/>
              <a:t>Keegi on kindlasti kogenud, mis tunne on 30 hanke vahel valida. </a:t>
            </a:r>
          </a:p>
          <a:p>
            <a:r>
              <a:rPr lang="et-EE" dirty="0"/>
              <a:t>Võidab KÜ</a:t>
            </a:r>
          </a:p>
          <a:p>
            <a:r>
              <a:rPr lang="et-EE" dirty="0"/>
              <a:t>Võidab Töö teostaja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/>
              <a:t>Kas meie võidame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6291C-6FD0-A4CC-5997-DBB4BDC69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3F3AD-24EA-C772-6584-D25C2F436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B7A47-E9DE-1CC3-5291-705E669A7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3D8B7-F000-A111-AE34-F3E3A96037A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318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3E5561A-69B5-48E4-8D19-DD6BCFA0B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1388493-B54B-45D6-82B7-CB770299B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292D36A-7E74-4D13-81E7-49D93E6F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2B04368-2F2A-4184-9DC7-CB92483C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69CFC3D-5254-4871-83C6-4A9F238F4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C6B89B5-60A4-444A-A711-95043DF80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06F329-ABF8-44E8-8A36-B08A0103F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682AB71-0A04-4BE4-9D9A-90B9CD11F23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12B7D02-5782-40AB-92CF-83E46CB5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399C54A-231F-4ED3-9316-301747DB7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CC5AF-A154-4951-8A88-64D3F92D3601}"/>
              </a:ext>
            </a:extLst>
          </p:cNvPr>
          <p:cNvSpPr>
            <a:spLocks noGrp="1"/>
          </p:cNvSpPr>
          <p:nvPr/>
        </p:nvSpPr>
        <p:spPr>
          <a:xfrm>
            <a:off x="723900" y="6096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180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r>
              <a:rPr sz="1800" b="1">
                <a:solidFill>
                  <a:srgbClr val="285443"/>
                </a:solidFill>
                <a:latin typeface="Lora"/>
                <a:ea typeface="Lora"/>
                <a:cs typeface="Lora"/>
              </a:rPr>
              <a:t>ÜHISHANGE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47697F-5140-4AB1-8B8E-75EC33F52DD5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6477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0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40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r>
              <a:rPr sz="4050" b="1">
                <a:solidFill>
                  <a:srgbClr val="285443"/>
                </a:solidFill>
                <a:latin typeface="Lora"/>
                <a:ea typeface="Lora"/>
                <a:cs typeface="Lora"/>
              </a:rPr>
              <a:t>Korteriühistute</a:t>
            </a:r>
          </a:p>
          <a:p>
            <a:pPr>
              <a:defRPr sz="40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r>
              <a:rPr sz="4050" b="1">
                <a:solidFill>
                  <a:srgbClr val="285443"/>
                </a:solidFill>
                <a:latin typeface="Lora"/>
                <a:ea typeface="Lora"/>
                <a:cs typeface="Lora"/>
              </a:rPr>
              <a:t>ühishanke platvorm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97637D-1A76-4BC4-8CBB-C10BE68752F7}"/>
              </a:ext>
            </a:extLst>
          </p:cNvPr>
          <p:cNvSpPr>
            <a:spLocks noGrp="1"/>
          </p:cNvSpPr>
          <p:nvPr/>
        </p:nvSpPr>
        <p:spPr>
          <a:xfrm>
            <a:off x="781050" y="394335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C86848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1800" b="1">
                <a:solidFill>
                  <a:srgbClr val="C86848"/>
                </a:solidFill>
                <a:latin typeface="Work Sans"/>
                <a:ea typeface="Work Sans"/>
                <a:cs typeface="Work Sans"/>
              </a:defRPr>
            </a:pPr>
            <a:r>
              <a:rPr sz="1800" b="1">
                <a:solidFill>
                  <a:srgbClr val="C86848"/>
                </a:solidFill>
                <a:latin typeface="Work Sans"/>
                <a:ea typeface="Work Sans"/>
                <a:cs typeface="Work Sans"/>
              </a:rPr>
              <a:t>Koos tellides tuleb parem hind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C37D24-5C47-4101-95EF-EA360301024F}"/>
              </a:ext>
            </a:extLst>
          </p:cNvPr>
          <p:cNvSpPr>
            <a:spLocks noGrp="1"/>
          </p:cNvSpPr>
          <p:nvPr/>
        </p:nvSpPr>
        <p:spPr>
          <a:xfrm>
            <a:off x="781050" y="44767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>
                <a:solidFill>
                  <a:srgbClr val="577169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1350">
                <a:solidFill>
                  <a:srgbClr val="577169"/>
                </a:solidFill>
                <a:latin typeface="Work Sans"/>
                <a:ea typeface="Work Sans"/>
                <a:cs typeface="Work Sans"/>
              </a:defRPr>
            </a:pPr>
            <a:endParaRPr sz="1350" dirty="0">
              <a:solidFill>
                <a:srgbClr val="577169"/>
              </a:solidFill>
              <a:latin typeface="Work Sans"/>
              <a:ea typeface="Work Sans"/>
              <a:cs typeface="Work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B0EA7-8686-45F1-8B00-E539AD77C1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57" r="22957"/>
          <a:stretch>
            <a:fillRect/>
          </a:stretch>
        </p:blipFill>
        <p:spPr>
          <a:xfrm>
            <a:off x="6134100" y="347133"/>
            <a:ext cx="5334000" cy="616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3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31E4A7-BCEA-4301-B6F7-71D8489BA31B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685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F5F1E8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3000" b="1">
                <a:solidFill>
                  <a:srgbClr val="F5F1E8"/>
                </a:solidFill>
                <a:latin typeface="Lora"/>
                <a:ea typeface="Lora"/>
                <a:cs typeface="Lora"/>
              </a:defRPr>
            </a:pPr>
            <a:r>
              <a:rPr sz="3000" b="1" dirty="0">
                <a:solidFill>
                  <a:srgbClr val="F5F1E8"/>
                </a:solidFill>
                <a:latin typeface="Lora"/>
                <a:ea typeface="Lora"/>
                <a:cs typeface="Lora"/>
              </a:rPr>
              <a:t>Kaar</a:t>
            </a:r>
            <a:r>
              <a:rPr lang="en-US" sz="3000" b="1" dirty="0">
                <a:solidFill>
                  <a:srgbClr val="F5F1E8"/>
                </a:solidFill>
                <a:latin typeface="Lora"/>
                <a:ea typeface="Lora"/>
                <a:cs typeface="Lora"/>
              </a:rPr>
              <a:t>el</a:t>
            </a:r>
            <a:r>
              <a:rPr lang="et-EE" sz="3000" b="1" dirty="0">
                <a:solidFill>
                  <a:srgbClr val="F5F1E8"/>
                </a:solidFill>
                <a:latin typeface="Lora"/>
                <a:ea typeface="Lora"/>
                <a:cs typeface="Lora"/>
              </a:rPr>
              <a:t> hakkas ühistu juhatuse liikmeks, kuid midagi läks valesti</a:t>
            </a:r>
            <a:endParaRPr sz="3000" b="1" dirty="0">
              <a:solidFill>
                <a:srgbClr val="F5F1E8"/>
              </a:solidFill>
              <a:latin typeface="Lora"/>
              <a:ea typeface="Lora"/>
              <a:cs typeface="Lor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EBB34-CB4A-4BED-B1EE-6A278E7E58C9}"/>
              </a:ext>
            </a:extLst>
          </p:cNvPr>
          <p:cNvSpPr>
            <a:spLocks noGrp="1"/>
          </p:cNvSpPr>
          <p:nvPr/>
        </p:nvSpPr>
        <p:spPr>
          <a:xfrm>
            <a:off x="857250" y="306705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D8A945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2250" b="1">
                <a:solidFill>
                  <a:srgbClr val="D8A945"/>
                </a:solidFill>
                <a:latin typeface="Lora"/>
                <a:ea typeface="Lora"/>
                <a:cs typeface="Lora"/>
              </a:defRPr>
            </a:pPr>
            <a:r>
              <a:rPr sz="2250" b="1">
                <a:solidFill>
                  <a:srgbClr val="D8A945"/>
                </a:solidFill>
                <a:latin typeface="Lora"/>
                <a:ea typeface="Lora"/>
                <a:cs typeface="Lora"/>
              </a:rPr>
              <a:t>Tasuta töö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F905CE-8C2D-4254-8CDC-772D69EBDE15}"/>
              </a:ext>
            </a:extLst>
          </p:cNvPr>
          <p:cNvSpPr>
            <a:spLocks noGrp="1"/>
          </p:cNvSpPr>
          <p:nvPr/>
        </p:nvSpPr>
        <p:spPr>
          <a:xfrm>
            <a:off x="4457700" y="3067050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D8A945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2250" b="1">
                <a:solidFill>
                  <a:srgbClr val="D8A945"/>
                </a:solidFill>
                <a:latin typeface="Lora"/>
                <a:ea typeface="Lora"/>
                <a:cs typeface="Lora"/>
              </a:defRPr>
            </a:pPr>
            <a:r>
              <a:rPr sz="2250" b="1">
                <a:solidFill>
                  <a:srgbClr val="D8A945"/>
                </a:solidFill>
                <a:latin typeface="Lora"/>
                <a:ea typeface="Lora"/>
                <a:cs typeface="Lora"/>
              </a:rPr>
              <a:t>Kiired otsused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A0DCCF-7A61-4EB4-8FD9-685B9D4BABF9}"/>
              </a:ext>
            </a:extLst>
          </p:cNvPr>
          <p:cNvSpPr>
            <a:spLocks noGrp="1"/>
          </p:cNvSpPr>
          <p:nvPr/>
        </p:nvSpPr>
        <p:spPr>
          <a:xfrm>
            <a:off x="8058150" y="30670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D8A945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2250" b="1">
                <a:solidFill>
                  <a:srgbClr val="D8A945"/>
                </a:solidFill>
                <a:latin typeface="Lora"/>
                <a:ea typeface="Lora"/>
                <a:cs typeface="Lora"/>
              </a:defRPr>
            </a:pPr>
            <a:r>
              <a:rPr lang="et-EE" sz="2250" b="1" dirty="0">
                <a:solidFill>
                  <a:srgbClr val="D8A945"/>
                </a:solidFill>
                <a:latin typeface="Lora"/>
                <a:ea typeface="Lora"/>
                <a:cs typeface="Lora"/>
              </a:rPr>
              <a:t>Ei suuda pidevalt kaubelda</a:t>
            </a:r>
            <a:endParaRPr sz="2250" b="1" dirty="0">
              <a:solidFill>
                <a:srgbClr val="D8A945"/>
              </a:solidFill>
              <a:latin typeface="Lora"/>
              <a:ea typeface="Lora"/>
              <a:cs typeface="Lor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E1428B-DA77-457C-9542-CE5A601F485C}"/>
              </a:ext>
            </a:extLst>
          </p:cNvPr>
          <p:cNvSpPr>
            <a:spLocks noGrp="1"/>
          </p:cNvSpPr>
          <p:nvPr/>
        </p:nvSpPr>
        <p:spPr>
          <a:xfrm>
            <a:off x="762000" y="4838700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>
                <a:solidFill>
                  <a:srgbClr val="D8D5CC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1650">
                <a:solidFill>
                  <a:srgbClr val="D8D5CC"/>
                </a:solidFill>
                <a:latin typeface="Work Sans"/>
                <a:ea typeface="Work Sans"/>
                <a:cs typeface="Work Sans"/>
              </a:defRPr>
            </a:pPr>
            <a:endParaRPr sz="1650" dirty="0">
              <a:solidFill>
                <a:srgbClr val="D8D5CC"/>
              </a:solidFill>
              <a:latin typeface="Work Sans"/>
              <a:ea typeface="Work Sans"/>
              <a:cs typeface="Work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8E1B62-950A-47FC-BDA0-6D6B35F72215}"/>
              </a:ext>
            </a:extLst>
          </p:cNvPr>
          <p:cNvSpPr>
            <a:spLocks noGrp="1"/>
          </p:cNvSpPr>
          <p:nvPr/>
        </p:nvSpPr>
        <p:spPr>
          <a:xfrm>
            <a:off x="10972800" y="64008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pPr>
            <a:r>
              <a: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3564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2321EE-A117-4080-9A6D-E3D6D1B8B35C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695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28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r>
              <a:rPr lang="et-EE" sz="2850" b="1" dirty="0">
                <a:solidFill>
                  <a:srgbClr val="285443"/>
                </a:solidFill>
                <a:latin typeface="Lora"/>
                <a:ea typeface="Lora"/>
                <a:cs typeface="Lora"/>
              </a:rPr>
              <a:t>Juhatuse liige koostab hankesoovi</a:t>
            </a:r>
            <a:endParaRPr sz="2850" b="1" dirty="0">
              <a:solidFill>
                <a:srgbClr val="285443"/>
              </a:solidFill>
              <a:latin typeface="Lora"/>
              <a:ea typeface="Lora"/>
              <a:cs typeface="Lor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2AC07E-9B8B-4B2F-B9D8-342FBF64B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87561" y="1409700"/>
            <a:ext cx="8146027" cy="50912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87AC16-6CBE-461D-B420-4C35D612B1F8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333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172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pPr>
            <a:endParaRPr sz="1725" dirty="0">
              <a:solidFill>
                <a:srgbClr val="272724"/>
              </a:solidFill>
              <a:latin typeface="Work Sans"/>
              <a:ea typeface="Work Sans"/>
              <a:cs typeface="Work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649CAC-06C0-41D4-ABAD-BAC62482B9B2}"/>
              </a:ext>
            </a:extLst>
          </p:cNvPr>
          <p:cNvSpPr>
            <a:spLocks noGrp="1"/>
          </p:cNvSpPr>
          <p:nvPr/>
        </p:nvSpPr>
        <p:spPr>
          <a:xfrm>
            <a:off x="10972800" y="64008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pPr>
            <a:r>
              <a: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0430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18478-0E63-45DB-B9C2-3FCAD69125E1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695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28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r>
              <a:rPr lang="et-EE" sz="2850" b="1" dirty="0">
                <a:solidFill>
                  <a:srgbClr val="285443"/>
                </a:solidFill>
                <a:latin typeface="Lora"/>
                <a:ea typeface="Lora"/>
                <a:cs typeface="Lora"/>
              </a:rPr>
              <a:t>Juhatuse liige kutsub naaberühistud liituma hankega</a:t>
            </a:r>
            <a:endParaRPr sz="2850" b="1" dirty="0">
              <a:solidFill>
                <a:srgbClr val="285443"/>
              </a:solidFill>
              <a:latin typeface="Lora"/>
              <a:ea typeface="Lora"/>
              <a:cs typeface="Lor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812A1F-520F-487A-9524-E2E656A56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610953"/>
            <a:ext cx="7681452" cy="48009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C54408-29B1-44DC-9D10-A64F066CE53E}"/>
              </a:ext>
            </a:extLst>
          </p:cNvPr>
          <p:cNvSpPr>
            <a:spLocks noGrp="1"/>
          </p:cNvSpPr>
          <p:nvPr/>
        </p:nvSpPr>
        <p:spPr>
          <a:xfrm>
            <a:off x="7448550" y="2381250"/>
            <a:ext cx="3333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172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pPr>
            <a:endParaRPr sz="1725" dirty="0">
              <a:solidFill>
                <a:srgbClr val="272724"/>
              </a:solidFill>
              <a:latin typeface="Work Sans"/>
              <a:ea typeface="Work Sans"/>
              <a:cs typeface="Work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28E0B-4E06-4A63-BF57-92AF6A7B4DA0}"/>
              </a:ext>
            </a:extLst>
          </p:cNvPr>
          <p:cNvSpPr>
            <a:spLocks noGrp="1"/>
          </p:cNvSpPr>
          <p:nvPr/>
        </p:nvSpPr>
        <p:spPr>
          <a:xfrm>
            <a:off x="10972800" y="64008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pPr>
            <a:r>
              <a: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11618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5AD3AE-2FB2-4268-B2E9-8CA06F294027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695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28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r>
              <a:rPr lang="et-EE" sz="2850" b="1" dirty="0">
                <a:solidFill>
                  <a:srgbClr val="285443"/>
                </a:solidFill>
                <a:latin typeface="Lora"/>
                <a:ea typeface="Lora"/>
                <a:cs typeface="Lora"/>
              </a:rPr>
              <a:t>Töö teostaja teeb pakkumise</a:t>
            </a:r>
            <a:endParaRPr sz="2850" b="1" dirty="0">
              <a:solidFill>
                <a:srgbClr val="285443"/>
              </a:solidFill>
              <a:latin typeface="Lora"/>
              <a:ea typeface="Lora"/>
              <a:cs typeface="Lor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D8D426-5838-49AA-82E7-74CFAE2AE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7897" y="1409699"/>
            <a:ext cx="8264013" cy="51650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07D7AF-458E-4CE5-BAB9-B728CAB3E94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3333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172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pPr>
            <a:endParaRPr sz="1725" dirty="0">
              <a:solidFill>
                <a:srgbClr val="272724"/>
              </a:solidFill>
              <a:latin typeface="Work Sans"/>
              <a:ea typeface="Work Sans"/>
              <a:cs typeface="Work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3E8897-8FE4-45B6-9E82-9CB8ACD1F23B}"/>
              </a:ext>
            </a:extLst>
          </p:cNvPr>
          <p:cNvSpPr>
            <a:spLocks noGrp="1"/>
          </p:cNvSpPr>
          <p:nvPr/>
        </p:nvSpPr>
        <p:spPr>
          <a:xfrm>
            <a:off x="10972800" y="64008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pPr>
            <a:r>
              <a: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4672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812B74-7735-4113-9ED5-AAC01CB3E638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695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28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r>
              <a:rPr lang="et-EE" sz="2850" b="1" dirty="0">
                <a:solidFill>
                  <a:srgbClr val="285443"/>
                </a:solidFill>
                <a:latin typeface="Lora"/>
                <a:ea typeface="Lora"/>
                <a:cs typeface="Lora"/>
              </a:rPr>
              <a:t>Juhatuse liige valib sobiva pakkumise</a:t>
            </a:r>
            <a:endParaRPr sz="2850" b="1" dirty="0">
              <a:solidFill>
                <a:srgbClr val="285443"/>
              </a:solidFill>
              <a:latin typeface="Lora"/>
              <a:ea typeface="Lora"/>
              <a:cs typeface="Lor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B6CB0C-27F9-463F-8126-52B17BE85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9518" y="1409700"/>
            <a:ext cx="8291359" cy="51820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C21D00-A5F5-4617-A51F-62AA86784493}"/>
              </a:ext>
            </a:extLst>
          </p:cNvPr>
          <p:cNvSpPr>
            <a:spLocks noGrp="1"/>
          </p:cNvSpPr>
          <p:nvPr/>
        </p:nvSpPr>
        <p:spPr>
          <a:xfrm>
            <a:off x="7448550" y="2381250"/>
            <a:ext cx="3333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172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pPr>
            <a:endParaRPr sz="1725" dirty="0">
              <a:solidFill>
                <a:srgbClr val="272724"/>
              </a:solidFill>
              <a:latin typeface="Work Sans"/>
              <a:ea typeface="Work Sans"/>
              <a:cs typeface="Work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9277F1-C8A7-4D46-91D3-5663A049BBD2}"/>
              </a:ext>
            </a:extLst>
          </p:cNvPr>
          <p:cNvSpPr>
            <a:spLocks noGrp="1"/>
          </p:cNvSpPr>
          <p:nvPr/>
        </p:nvSpPr>
        <p:spPr>
          <a:xfrm>
            <a:off x="10972800" y="64008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pPr>
            <a:r>
              <a: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4169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837788-9F0B-4369-8EB0-1D614841278F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695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28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r>
              <a:rPr sz="2850" b="1" dirty="0">
                <a:solidFill>
                  <a:srgbClr val="285443"/>
                </a:solidFill>
                <a:latin typeface="Lora"/>
                <a:ea typeface="Lora"/>
                <a:cs typeface="Lora"/>
              </a:rPr>
              <a:t>Korteriühistu</a:t>
            </a:r>
            <a:r>
              <a:rPr lang="et-EE" sz="2850" b="1" dirty="0">
                <a:solidFill>
                  <a:srgbClr val="285443"/>
                </a:solidFill>
                <a:latin typeface="Lora"/>
                <a:ea typeface="Lora"/>
                <a:cs typeface="Lora"/>
              </a:rPr>
              <a:t>id on Eestis üle 25000</a:t>
            </a:r>
            <a:endParaRPr sz="2850" b="1" dirty="0">
              <a:solidFill>
                <a:srgbClr val="285443"/>
              </a:solidFill>
              <a:latin typeface="Lora"/>
              <a:ea typeface="Lora"/>
              <a:cs typeface="Lor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6E08D9-0C19-4DE3-AC1D-7945422CB715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5429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510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510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r>
              <a:rPr sz="5100" b="1" dirty="0" err="1">
                <a:solidFill>
                  <a:srgbClr val="285443"/>
                </a:solidFill>
                <a:latin typeface="Lora"/>
                <a:ea typeface="Lora"/>
                <a:cs typeface="Lora"/>
              </a:rPr>
              <a:t>Üle</a:t>
            </a:r>
            <a:r>
              <a:rPr sz="5100" b="1" dirty="0">
                <a:solidFill>
                  <a:srgbClr val="285443"/>
                </a:solidFill>
                <a:latin typeface="Lora"/>
                <a:ea typeface="Lora"/>
                <a:cs typeface="Lora"/>
              </a:rPr>
              <a:t> 13 000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FCC678-A6E2-4F80-9F29-B43884F3E621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5143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187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pPr>
            <a:r>
              <a:rPr sz="1875">
                <a:solidFill>
                  <a:srgbClr val="272724"/>
                </a:solidFill>
                <a:latin typeface="Work Sans"/>
                <a:ea typeface="Work Sans"/>
                <a:cs typeface="Work Sans"/>
              </a:rPr>
              <a:t>korteriühistu hoones, kus on üle kümne korteri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CDF934-CA48-4A59-83D1-0EBF6EE0B09A}"/>
              </a:ext>
            </a:extLst>
          </p:cNvPr>
          <p:cNvSpPr>
            <a:spLocks noGrp="1"/>
          </p:cNvSpPr>
          <p:nvPr/>
        </p:nvSpPr>
        <p:spPr>
          <a:xfrm>
            <a:off x="7219950" y="2419350"/>
            <a:ext cx="36195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187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pPr>
            <a:r>
              <a:rPr sz="1875">
                <a:solidFill>
                  <a:srgbClr val="272724"/>
                </a:solidFill>
                <a:latin typeface="Work Sans"/>
                <a:ea typeface="Work Sans"/>
                <a:cs typeface="Work Sans"/>
              </a:rPr>
              <a:t>Ühishange aitab samas piirkonnas tegutsevatel ühistutel teha ühe teenuse tellimisel koostööd.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BD2F52-7006-4408-A87D-DFE87303DB0E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77169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975">
                <a:solidFill>
                  <a:srgbClr val="577169"/>
                </a:solidFill>
                <a:latin typeface="Work Sans"/>
                <a:ea typeface="Work Sans"/>
                <a:cs typeface="Work Sans"/>
              </a:defRPr>
            </a:pPr>
            <a:r>
              <a:rPr sz="975">
                <a:solidFill>
                  <a:srgbClr val="577169"/>
                </a:solidFill>
                <a:latin typeface="Work Sans"/>
                <a:ea typeface="Work Sans"/>
                <a:cs typeface="Work Sans"/>
              </a:rPr>
              <a:t>Lähteväide: projekti slaidimaterjal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99464-6A40-49B7-986B-D765DA141AD5}"/>
              </a:ext>
            </a:extLst>
          </p:cNvPr>
          <p:cNvSpPr>
            <a:spLocks noGrp="1"/>
          </p:cNvSpPr>
          <p:nvPr/>
        </p:nvSpPr>
        <p:spPr>
          <a:xfrm>
            <a:off x="10972800" y="64008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pPr>
            <a:r>
              <a: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622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ABE67A-DB31-4E03-8B38-C0AF6B0B802E}"/>
              </a:ext>
            </a:extLst>
          </p:cNvPr>
          <p:cNvSpPr>
            <a:spLocks noGrp="1"/>
          </p:cNvSpPr>
          <p:nvPr/>
        </p:nvSpPr>
        <p:spPr>
          <a:xfrm>
            <a:off x="723900" y="666750"/>
            <a:ext cx="714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F5F1E8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3000" b="1">
                <a:solidFill>
                  <a:srgbClr val="F5F1E8"/>
                </a:solidFill>
                <a:latin typeface="Lora"/>
                <a:ea typeface="Lora"/>
                <a:cs typeface="Lora"/>
              </a:defRPr>
            </a:pPr>
            <a:r>
              <a:rPr lang="et-EE" sz="3000" b="1" dirty="0">
                <a:solidFill>
                  <a:srgbClr val="F5F1E8"/>
                </a:solidFill>
                <a:latin typeface="Lora"/>
                <a:ea typeface="Lora"/>
                <a:cs typeface="Lora"/>
              </a:rPr>
              <a:t>Võtame tasu käibelt nagu teised sarnased platvormid </a:t>
            </a:r>
            <a:endParaRPr sz="3000" b="1" dirty="0">
              <a:solidFill>
                <a:srgbClr val="F5F1E8"/>
              </a:solidFill>
              <a:latin typeface="Lora"/>
              <a:ea typeface="Lora"/>
              <a:cs typeface="Lor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56A6DC-4B3F-40C3-9FAE-468571686D1C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257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5100" b="1">
                <a:solidFill>
                  <a:srgbClr val="D8A945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5100" b="1">
                <a:solidFill>
                  <a:srgbClr val="D8A945"/>
                </a:solidFill>
                <a:latin typeface="Lora"/>
                <a:ea typeface="Lora"/>
                <a:cs typeface="Lora"/>
              </a:defRPr>
            </a:pPr>
            <a:r>
              <a:rPr sz="5100" b="1" dirty="0">
                <a:solidFill>
                  <a:srgbClr val="D8A945"/>
                </a:solidFill>
                <a:latin typeface="Lora"/>
                <a:ea typeface="Lora"/>
                <a:cs typeface="Lora"/>
              </a:rPr>
              <a:t>10%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F03169-E4E0-4FED-89C0-08EA18C802A7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F5F1E8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1575">
                <a:solidFill>
                  <a:srgbClr val="F5F1E8"/>
                </a:solidFill>
                <a:latin typeface="Work Sans"/>
                <a:ea typeface="Work Sans"/>
                <a:cs typeface="Work Sans"/>
              </a:defRPr>
            </a:pPr>
            <a:r>
              <a:rPr sz="1575" dirty="0" err="1">
                <a:solidFill>
                  <a:srgbClr val="F5F1E8"/>
                </a:solidFill>
                <a:latin typeface="Work Sans"/>
                <a:ea typeface="Work Sans"/>
                <a:cs typeface="Work Sans"/>
              </a:rPr>
              <a:t>teenustasu</a:t>
            </a:r>
            <a:r>
              <a:rPr sz="1575" dirty="0">
                <a:solidFill>
                  <a:srgbClr val="F5F1E8"/>
                </a:solidFill>
                <a:latin typeface="Work Sans"/>
                <a:ea typeface="Work Sans"/>
                <a:cs typeface="Work Sans"/>
              </a:rPr>
              <a:t> </a:t>
            </a:r>
            <a:r>
              <a:rPr lang="et-EE" sz="1575" dirty="0">
                <a:solidFill>
                  <a:srgbClr val="F5F1E8"/>
                </a:solidFill>
                <a:latin typeface="Work Sans"/>
                <a:ea typeface="Work Sans"/>
                <a:cs typeface="Work Sans"/>
              </a:rPr>
              <a:t>käibelt</a:t>
            </a:r>
            <a:endParaRPr sz="1575" dirty="0">
              <a:solidFill>
                <a:srgbClr val="F5F1E8"/>
              </a:solidFill>
              <a:latin typeface="Work Sans"/>
              <a:ea typeface="Work Sans"/>
              <a:cs typeface="Work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4C5DD0-2145-4CBF-AC3F-E55488C69EDF}"/>
              </a:ext>
            </a:extLst>
          </p:cNvPr>
          <p:cNvSpPr>
            <a:spLocks noGrp="1"/>
          </p:cNvSpPr>
          <p:nvPr/>
        </p:nvSpPr>
        <p:spPr>
          <a:xfrm>
            <a:off x="4147369" y="2171700"/>
            <a:ext cx="695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5100" b="1">
                <a:solidFill>
                  <a:srgbClr val="D8A945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5100" b="1">
                <a:solidFill>
                  <a:srgbClr val="D8A945"/>
                </a:solidFill>
                <a:latin typeface="Lora"/>
                <a:ea typeface="Lora"/>
                <a:cs typeface="Lora"/>
              </a:defRPr>
            </a:pPr>
            <a:r>
              <a:rPr lang="et-EE" sz="5100" b="1" dirty="0">
                <a:solidFill>
                  <a:srgbClr val="D8A945"/>
                </a:solidFill>
                <a:latin typeface="Lora"/>
                <a:ea typeface="Lora"/>
                <a:cs typeface="Lora"/>
              </a:rPr>
              <a:t>Madalad kulud</a:t>
            </a:r>
            <a:endParaRPr sz="5100" b="1" dirty="0">
              <a:solidFill>
                <a:srgbClr val="D8A945"/>
              </a:solidFill>
              <a:latin typeface="Lora"/>
              <a:ea typeface="Lora"/>
              <a:cs typeface="Lor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4DAE9D-8ECE-4044-A353-F6848FF8B111}"/>
              </a:ext>
            </a:extLst>
          </p:cNvPr>
          <p:cNvSpPr>
            <a:spLocks noGrp="1"/>
          </p:cNvSpPr>
          <p:nvPr/>
        </p:nvSpPr>
        <p:spPr>
          <a:xfrm>
            <a:off x="10972800" y="64008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pPr>
            <a:r>
              <a: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28098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02739-A980-64A0-C3CA-CD6464356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F3033E-D21A-18F5-D0EA-2F6B250C4259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695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285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r>
              <a:rPr lang="et-EE" sz="2850" b="1" dirty="0">
                <a:solidFill>
                  <a:srgbClr val="285443"/>
                </a:solidFill>
                <a:latin typeface="Lora"/>
                <a:ea typeface="Lora"/>
                <a:cs typeface="Lora"/>
              </a:rPr>
              <a:t>Tuleva liigutas mägesid ja lõi uue standardi Eestis</a:t>
            </a:r>
            <a:endParaRPr sz="2850" b="1" dirty="0">
              <a:solidFill>
                <a:srgbClr val="285443"/>
              </a:solidFill>
              <a:latin typeface="Lora"/>
              <a:ea typeface="Lora"/>
              <a:cs typeface="Lor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A15817-7D64-D436-1FD6-6FB189A6A774}"/>
              </a:ext>
            </a:extLst>
          </p:cNvPr>
          <p:cNvSpPr>
            <a:spLocks noGrp="1"/>
          </p:cNvSpPr>
          <p:nvPr/>
        </p:nvSpPr>
        <p:spPr>
          <a:xfrm>
            <a:off x="7448550" y="2381250"/>
            <a:ext cx="3333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1725">
                <a:solidFill>
                  <a:srgbClr val="272724"/>
                </a:solidFill>
                <a:latin typeface="Work Sans"/>
                <a:ea typeface="Work Sans"/>
                <a:cs typeface="Work Sans"/>
              </a:defRPr>
            </a:pPr>
            <a:endParaRPr sz="1725" dirty="0">
              <a:solidFill>
                <a:srgbClr val="272724"/>
              </a:solidFill>
              <a:latin typeface="Work Sans"/>
              <a:ea typeface="Work Sans"/>
              <a:cs typeface="Work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65294-89A6-A148-E3C9-F10BB133E3AB}"/>
              </a:ext>
            </a:extLst>
          </p:cNvPr>
          <p:cNvSpPr>
            <a:spLocks noGrp="1"/>
          </p:cNvSpPr>
          <p:nvPr/>
        </p:nvSpPr>
        <p:spPr>
          <a:xfrm>
            <a:off x="10972800" y="64008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defPPr>
          </a:lstStyle>
          <a:p>
            <a:pPr>
              <a:def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defRPr>
            </a:pPr>
            <a:r>
              <a:rPr sz="825" b="1">
                <a:solidFill>
                  <a:srgbClr val="285443"/>
                </a:solidFill>
                <a:latin typeface="Work Sans"/>
                <a:ea typeface="Work Sans"/>
                <a:cs typeface="Work Sans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29B43E-36F7-DB13-1F16-5198520013F1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10494706" cy="25742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510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defPPr>
          </a:lstStyle>
          <a:p>
            <a:pPr>
              <a:defRPr sz="510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r>
              <a:rPr lang="et-EE" sz="4000" b="1" dirty="0">
                <a:solidFill>
                  <a:srgbClr val="285443"/>
                </a:solidFill>
                <a:latin typeface="Lora"/>
                <a:ea typeface="Lora"/>
                <a:cs typeface="Lora"/>
              </a:rPr>
              <a:t>Korteriühistutes on vaja sama lähenemist.</a:t>
            </a:r>
          </a:p>
          <a:p>
            <a:pPr>
              <a:defRPr sz="510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endParaRPr lang="et-EE" sz="4000" b="1" dirty="0">
              <a:solidFill>
                <a:srgbClr val="285443"/>
              </a:solidFill>
              <a:latin typeface="Lora"/>
              <a:ea typeface="Lora"/>
              <a:cs typeface="Lora"/>
            </a:endParaRPr>
          </a:p>
          <a:p>
            <a:pPr>
              <a:defRPr sz="510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endParaRPr lang="et-EE" sz="4000" b="1" dirty="0">
              <a:solidFill>
                <a:srgbClr val="285443"/>
              </a:solidFill>
              <a:latin typeface="Lora"/>
              <a:ea typeface="Lora"/>
              <a:cs typeface="Lora"/>
            </a:endParaRPr>
          </a:p>
          <a:p>
            <a:pPr>
              <a:defRPr sz="5100" b="1">
                <a:solidFill>
                  <a:srgbClr val="285443"/>
                </a:solidFill>
                <a:latin typeface="Lora"/>
                <a:ea typeface="Lora"/>
                <a:cs typeface="Lora"/>
              </a:defRPr>
            </a:pPr>
            <a:r>
              <a:rPr lang="et-EE" sz="4000" b="1">
                <a:solidFill>
                  <a:srgbClr val="285443"/>
                </a:solidFill>
                <a:latin typeface="Lora"/>
                <a:ea typeface="Lora"/>
                <a:cs typeface="Lora"/>
              </a:rPr>
              <a:t>Koos tuleb olla!</a:t>
            </a:r>
            <a:endParaRPr sz="4000" b="1" dirty="0">
              <a:solidFill>
                <a:srgbClr val="285443"/>
              </a:solidFill>
              <a:latin typeface="Lora"/>
              <a:ea typeface="Lora"/>
              <a:cs typeface="Lora"/>
            </a:endParaRPr>
          </a:p>
        </p:txBody>
      </p:sp>
    </p:spTree>
    <p:extLst>
      <p:ext uri="{BB962C8B-B14F-4D97-AF65-F5344CB8AC3E}">
        <p14:creationId xmlns:p14="http://schemas.microsoft.com/office/powerpoint/2010/main" val="18762516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B6452BA-6E25-47A1-8ECE-BCDA424888A0}">
  <we:reference id="cba9fc06-6fc9-492e-9525-923870a3b909" version="2.0.0.1" store="EXCatalog" storeType="EXCatalog"/>
  <we:alternateReferences>
    <we:reference id="WA200010215" version="2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DocSecurity>0</DocSecurity>
  <PresentationFormat>Widescreen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Lora</vt:lpstr>
      <vt:lpstr>Work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Viljar Puusepp</cp:lastModifiedBy>
  <cp:revision>1</cp:revision>
  <dcterms:created xsi:type="dcterms:W3CDTF">2026-10-11T07:17:16Z</dcterms:created>
  <dcterms:modified xsi:type="dcterms:W3CDTF">2026-10-11T07:58:53Z</dcterms:modified>
</cp:coreProperties>
</file>